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b_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3063240"/>
            <a:ext cx="3703320" cy="6172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3317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3회차  ·  JAVA FRAMEWORK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40080" y="26974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프레임워크의 이해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프레임워크의 본질부터 Java 생태계의 진화까지 — J2EE에서 Spring Boot로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4892040"/>
            <a:ext cx="731520" cy="54864"/>
          </a:xfrm>
          <a:prstGeom prst="rect">
            <a:avLst/>
          </a:prstGeom>
          <a:solidFill>
            <a:srgbClr val="FFBC0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126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스터디언 · 알쓸IT잡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b_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4632"/>
            <a:ext cx="186537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4008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다룰 내용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788920"/>
            <a:ext cx="3322320" cy="2743200"/>
          </a:xfrm>
          <a:prstGeom prst="roundRect">
            <a:avLst>
              <a:gd name="adj" fmla="val 4333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  <a:effectLst>
            <a:outerShdw sx="100000" sy="100000" kx="0" ky="0" algn="bl" rotWithShape="0" blurRad="114300" dist="38100" dir="5400000">
              <a:srgbClr val="26282C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2788920"/>
            <a:ext cx="3322320" cy="109728"/>
          </a:xfrm>
          <a:prstGeom prst="rect">
            <a:avLst/>
          </a:prstGeom>
          <a:solidFill>
            <a:srgbClr val="FFBC00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3154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BC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960120" y="4069080"/>
            <a:ext cx="268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프레임워크란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60120" y="4663440"/>
            <a:ext cx="268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소프트웨어의 뼈대, 그리고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'제어의 역전'이라는 핵심 개념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19600" y="2788920"/>
            <a:ext cx="3322320" cy="2743200"/>
          </a:xfrm>
          <a:prstGeom prst="roundRect">
            <a:avLst>
              <a:gd name="adj" fmla="val 4333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  <a:effectLst>
            <a:outerShdw sx="100000" sy="100000" kx="0" ky="0" algn="bl" rotWithShape="0" blurRad="114300" dist="38100" dir="5400000">
              <a:srgbClr val="26282C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19600" y="2788920"/>
            <a:ext cx="3322320" cy="109728"/>
          </a:xfrm>
          <a:prstGeom prst="rect">
            <a:avLst/>
          </a:prstGeom>
          <a:solidFill>
            <a:srgbClr val="FFBC00"/>
          </a:solidFill>
          <a:ln/>
        </p:spPr>
      </p:sp>
      <p:sp>
        <p:nvSpPr>
          <p:cNvPr id="12" name="Text 9"/>
          <p:cNvSpPr/>
          <p:nvPr/>
        </p:nvSpPr>
        <p:spPr>
          <a:xfrm>
            <a:off x="4739640" y="3154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BC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4739640" y="4069080"/>
            <a:ext cx="268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프레임워크 vs 라이브러리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739640" y="4663440"/>
            <a:ext cx="268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흐름을 통제하는가 —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개념의 결정적 차이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99120" y="2788920"/>
            <a:ext cx="3322320" cy="2743200"/>
          </a:xfrm>
          <a:prstGeom prst="roundRect">
            <a:avLst>
              <a:gd name="adj" fmla="val 4333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  <a:effectLst>
            <a:outerShdw sx="100000" sy="100000" kx="0" ky="0" algn="bl" rotWithShape="0" blurRad="114300" dist="38100" dir="5400000">
              <a:srgbClr val="26282C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199120" y="2788920"/>
            <a:ext cx="3322320" cy="109728"/>
          </a:xfrm>
          <a:prstGeom prst="rect">
            <a:avLst/>
          </a:prstGeom>
          <a:solidFill>
            <a:srgbClr val="FFBC00"/>
          </a:solidFill>
          <a:ln/>
        </p:spPr>
      </p:sp>
      <p:sp>
        <p:nvSpPr>
          <p:cNvPr id="17" name="Text 14"/>
          <p:cNvSpPr/>
          <p:nvPr/>
        </p:nvSpPr>
        <p:spPr>
          <a:xfrm>
            <a:off x="8519160" y="3154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BC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4400" dirty="0"/>
          </a:p>
        </p:txBody>
      </p:sp>
      <p:sp>
        <p:nvSpPr>
          <p:cNvPr id="18" name="Text 15"/>
          <p:cNvSpPr/>
          <p:nvPr/>
        </p:nvSpPr>
        <p:spPr>
          <a:xfrm>
            <a:off x="8519160" y="4069080"/>
            <a:ext cx="268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프레임워크의 진화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8519160" y="4663440"/>
            <a:ext cx="268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J2EE에서 Spring,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그리고 Spring Boot까지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KB손해보험 · 알쓸IT잡  |  프레임워크 교육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b_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4632"/>
            <a:ext cx="186537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01.  WHAT IS A FRAMEWORK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4008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프레임워크란 무엇인가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743200"/>
            <a:ext cx="6126480" cy="3108960"/>
          </a:xfrm>
          <a:prstGeom prst="roundRect">
            <a:avLst>
              <a:gd name="adj" fmla="val 3824"/>
            </a:avLst>
          </a:prstGeom>
          <a:solidFill>
            <a:srgbClr val="F7F7F8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정의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34290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7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애플리케이션을 만들기 위한 </a:t>
            </a:r>
            <a:pPr indent="0" marL="0">
              <a:lnSpc>
                <a:spcPct val="145000"/>
              </a:lnSpc>
              <a:buNone/>
            </a:pPr>
            <a:r>
              <a:rPr lang="en-US" sz="17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재사용 가능한 표준 구조(뼈대)</a:t>
            </a:r>
            <a:pPr indent="0" marL="0">
              <a:lnSpc>
                <a:spcPct val="145000"/>
              </a:lnSpc>
              <a:buNone/>
            </a:pPr>
            <a:r>
              <a:rPr lang="en-US" sz="17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이자, 공통 기능과 </a:t>
            </a:r>
            <a:pPr indent="0" marL="0">
              <a:lnSpc>
                <a:spcPct val="145000"/>
              </a:lnSpc>
              <a:buNone/>
            </a:pPr>
            <a:r>
              <a:rPr lang="en-US" sz="17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제어 흐름을 미리 제공</a:t>
            </a:r>
            <a:pPr indent="0" marL="0">
              <a:lnSpc>
                <a:spcPct val="145000"/>
              </a:lnSpc>
              <a:buNone/>
            </a:pPr>
            <a:r>
              <a:rPr lang="en-US" sz="17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하는 소프트웨어 환경.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840" y="47091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6F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개발자는 빈칸을 채우듯 비즈니스 로직만 작성하고, 반복되는 공통 부분은 프레임워크에 맡긴다.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040880" y="2697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프레임워크를 쓰는가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040880" y="3236976"/>
            <a:ext cx="146304" cy="146304"/>
          </a:xfrm>
          <a:prstGeom prst="ellipse">
            <a:avLst/>
          </a:prstGeom>
          <a:solidFill>
            <a:srgbClr val="FFBC00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0" y="314553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생산성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기능을 다시 만들 필요 없이 핵심 로직에 집중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040880" y="3950208"/>
            <a:ext cx="146304" cy="146304"/>
          </a:xfrm>
          <a:prstGeom prst="ellipse">
            <a:avLst/>
          </a:prstGeom>
          <a:solidFill>
            <a:srgbClr val="FFBC00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0" y="38587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일관성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정해진 구조 위에서 누가 짜도 비슷한 형태의 코드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040880" y="4663440"/>
            <a:ext cx="146304" cy="146304"/>
          </a:xfrm>
          <a:prstGeom prst="ellipse">
            <a:avLst/>
          </a:prstGeom>
          <a:solidFill>
            <a:srgbClr val="FFBC00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0" y="45720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안정성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검증된 설계와 보안·트랜잭션 처리를 기본 제공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040880" y="5376672"/>
            <a:ext cx="146304" cy="146304"/>
          </a:xfrm>
          <a:prstGeom prst="ellipse">
            <a:avLst/>
          </a:prstGeom>
          <a:solidFill>
            <a:srgbClr val="FFBC00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0" y="52852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유지보수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 구조 덕분에 협업과 인수인계가 쉬움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KB손해보험 · 알쓸IT잡  |  프레임워크 교육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b_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4632"/>
            <a:ext cx="186537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01.  CORE CONCEPT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40080" y="1691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핵심은 '제어의 역전(IoC)'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697480"/>
            <a:ext cx="10881360" cy="1005840"/>
          </a:xfrm>
          <a:prstGeom prst="roundRect">
            <a:avLst>
              <a:gd name="adj" fmla="val 11818"/>
            </a:avLst>
          </a:prstGeom>
          <a:solidFill>
            <a:srgbClr val="FFF6D9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269748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“Don't call us, we'll call you.”</a:t>
            </a:r>
            <a:pPr algn="l" indent="0" marL="0">
              <a:buNone/>
            </a:pPr>
            <a:r>
              <a:rPr lang="en-US" sz="1900" dirty="0">
                <a:solidFill>
                  <a:srgbClr val="6B6F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— 할리우드 원칙 (Hollywood Principle)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40080" y="3977640"/>
            <a:ext cx="5212080" cy="2011680"/>
          </a:xfrm>
          <a:prstGeom prst="roundRect">
            <a:avLst>
              <a:gd name="adj" fmla="val 5909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일반적인 코드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45445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직접 흐름을 통제한다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4937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코드 </a:t>
            </a:r>
            <a:pPr indent="0" marL="0">
              <a:buNone/>
            </a:pPr>
            <a:r>
              <a:rPr lang="en-US" sz="15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호출 → </a:t>
            </a:r>
            <a:pPr indent="0" marL="0">
              <a:buNone/>
            </a:pPr>
            <a:r>
              <a:rPr lang="en-US" sz="1500" b="1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필요한 기능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60120" y="5394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F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시점·순서를 내가 결정하고, 라이브러리를 가져다 쓴다.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09360" y="3977640"/>
            <a:ext cx="5212080" cy="2011680"/>
          </a:xfrm>
          <a:prstGeom prst="roundRect">
            <a:avLst>
              <a:gd name="adj" fmla="val 5909"/>
            </a:avLst>
          </a:prstGeom>
          <a:solidFill>
            <a:srgbClr val="FFFFFF"/>
          </a:solidFill>
          <a:ln w="12700">
            <a:solidFill>
              <a:srgbClr val="FFBC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3977640"/>
            <a:ext cx="109728" cy="2011680"/>
          </a:xfrm>
          <a:prstGeom prst="rect">
            <a:avLst/>
          </a:prstGeom>
          <a:solidFill>
            <a:srgbClr val="FFBC00"/>
          </a:solidFill>
          <a:ln/>
        </p:spPr>
      </p:sp>
      <p:sp>
        <p:nvSpPr>
          <p:cNvPr id="14" name="Text 11"/>
          <p:cNvSpPr/>
          <p:nvPr/>
        </p:nvSpPr>
        <p:spPr>
          <a:xfrm>
            <a:off x="662940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프레임워크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629400" y="45445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프레임워크가 흐름을 통제한다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629400" y="4937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프레임워크 </a:t>
            </a:r>
            <a:pPr indent="0" marL="0">
              <a:buNone/>
            </a:pPr>
            <a:r>
              <a:rPr lang="en-US" sz="15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호출 → </a:t>
            </a:r>
            <a:pPr indent="0" marL="0">
              <a:buNone/>
            </a:pPr>
            <a:r>
              <a:rPr lang="en-US" sz="15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코드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629400" y="5394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F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흐름은 프레임워크가 쥐고, 내 코드는 정해진 자리에서 '호출당한다'.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KB손해보험 · 알쓸IT잡  |  프레임워크 교육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b_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4632"/>
            <a:ext cx="186537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02.  FRAMEWORK vs LIBRARY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40080" y="1691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프레임워크 vs 라이브러리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2514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큰 차이는 '제어 흐름의 주체' — 누가 누구를 호출하는가에 있다.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1752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51960"/>
                <a:gridCol w="42519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B8F9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B8F9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라이브러리 (Library)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B8F9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프레임워크 (Framework)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8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제어 흐름의 주체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4586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개발자 (내 코드)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8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프레임워크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8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호출 방향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4586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코드 → 라이브러리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8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프레임워크 → 내 코드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8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자유도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4586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 — 원할 때 골라 쓴다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4586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 — 정해진 규칙을 따른다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8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4586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특정 기능의 모음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4586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애플리케이션 전체의 뼈대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8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4586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Lombok, Jackson, JUnit, Apache Commons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4586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Spring, Spring Boot, JPA(Hibernate)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75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Tip — JPA는 프레임워크지만, 내부적으로 Hibernate라는 라이브러리를 활용한다. 둘은 배타적 개념이 아니다.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KB손해보험 · 알쓸IT잡  |  프레임워크 교육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b_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4632"/>
            <a:ext cx="186537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02.  CONTROL FLOW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40080" y="1691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호출 방향으로 보는 차이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2697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라이브러리 — 내가 부른다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154680"/>
            <a:ext cx="2834640" cy="777240"/>
          </a:xfrm>
          <a:prstGeom prst="roundRect">
            <a:avLst>
              <a:gd name="adj" fmla="val 11765"/>
            </a:avLst>
          </a:prstGeom>
          <a:solidFill>
            <a:srgbClr val="26282C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154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코드 (main)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611880" y="3538728"/>
            <a:ext cx="1554480" cy="0"/>
          </a:xfrm>
          <a:prstGeom prst="line">
            <a:avLst/>
          </a:prstGeom>
          <a:noFill/>
          <a:ln w="31750">
            <a:solidFill>
              <a:srgbClr val="545861"/>
            </a:solidFill>
            <a:prstDash val="solid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3429000" y="30815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호출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303520" y="3154680"/>
            <a:ext cx="28346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6D8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3154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라이브러리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275320" y="3538728"/>
            <a:ext cx="1554480" cy="0"/>
          </a:xfrm>
          <a:prstGeom prst="line">
            <a:avLst/>
          </a:prstGeom>
          <a:noFill/>
          <a:ln w="31750">
            <a:solidFill>
              <a:srgbClr val="8B8F99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8092440" y="30815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반환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966960" y="315468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26282C"/>
          </a:solidFill>
          <a:ln/>
        </p:spPr>
      </p:sp>
      <p:sp>
        <p:nvSpPr>
          <p:cNvPr id="15" name="Text 12"/>
          <p:cNvSpPr/>
          <p:nvPr/>
        </p:nvSpPr>
        <p:spPr>
          <a:xfrm>
            <a:off x="9966960" y="3154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코드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0080" y="4069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실행의 주도권이 내 코드에 있다. 필요한 순간 원하는 기능을 골라 호출한다.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800600"/>
            <a:ext cx="10881360" cy="0"/>
          </a:xfrm>
          <a:prstGeom prst="line">
            <a:avLst/>
          </a:prstGeom>
          <a:noFill/>
          <a:ln w="12700">
            <a:solidFill>
              <a:srgbClr val="EBEB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4983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프레임워크 — 프레임워크가 나를 부른다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40080" y="5440680"/>
            <a:ext cx="3291840" cy="777240"/>
          </a:xfrm>
          <a:prstGeom prst="roundRect">
            <a:avLst>
              <a:gd name="adj" fmla="val 11765"/>
            </a:avLst>
          </a:prstGeom>
          <a:solidFill>
            <a:srgbClr val="FFBC00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4406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프레임워크 (실행 흐름 소유)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069080" y="5824728"/>
            <a:ext cx="1828800" cy="0"/>
          </a:xfrm>
          <a:prstGeom prst="line">
            <a:avLst/>
          </a:prstGeom>
          <a:noFill/>
          <a:ln w="31750">
            <a:solidFill>
              <a:srgbClr val="E5A800"/>
            </a:solidFill>
            <a:prstDash val="solid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3886200" y="5367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코드를 호출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080760" y="5440680"/>
            <a:ext cx="3108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6D8D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80760" y="54406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작성한 코드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9326880" y="5824728"/>
            <a:ext cx="1737360" cy="0"/>
          </a:xfrm>
          <a:prstGeom prst="line">
            <a:avLst/>
          </a:prstGeom>
          <a:noFill/>
          <a:ln w="31750">
            <a:solidFill>
              <a:srgbClr val="8B8F99"/>
            </a:solidFill>
            <a:prstDash val="solid"/>
            <a:tailEnd type="triangle"/>
          </a:ln>
        </p:spPr>
      </p:sp>
      <p:sp>
        <p:nvSpPr>
          <p:cNvPr id="26" name="Text 23"/>
          <p:cNvSpPr/>
          <p:nvPr/>
        </p:nvSpPr>
        <p:spPr>
          <a:xfrm>
            <a:off x="9144000" y="5367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 복귀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155680" y="5440680"/>
            <a:ext cx="548640" cy="777240"/>
          </a:xfrm>
          <a:prstGeom prst="roundRect">
            <a:avLst>
              <a:gd name="adj" fmla="val 16667"/>
            </a:avLst>
          </a:prstGeom>
          <a:solidFill>
            <a:srgbClr val="FFF6D9"/>
          </a:solidFill>
          <a:ln/>
        </p:spPr>
      </p:sp>
      <p:sp>
        <p:nvSpPr>
          <p:cNvPr id="28" name="Text 25"/>
          <p:cNvSpPr/>
          <p:nvPr/>
        </p:nvSpPr>
        <p:spPr>
          <a:xfrm>
            <a:off x="11155680" y="54406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↺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KB손해보험 · 알쓸IT잡  |  프레임워크 교육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b_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4632"/>
            <a:ext cx="186537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03.  EVOLUTION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40080" y="1691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Java 프레임워크의 진화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2514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복잡함을 덜어내는 방향으로 — '더 가볍게, 더 간단하게'가 일관된 흐름이다.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3977640"/>
            <a:ext cx="10515600" cy="0"/>
          </a:xfrm>
          <a:prstGeom prst="line">
            <a:avLst/>
          </a:prstGeom>
          <a:noFill/>
          <a:ln w="25400">
            <a:solidFill>
              <a:srgbClr val="D6D8D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81378" y="3858768"/>
            <a:ext cx="237744" cy="237744"/>
          </a:xfrm>
          <a:prstGeom prst="ellipse">
            <a:avLst/>
          </a:prstGeom>
          <a:solidFill>
            <a:srgbClr val="2628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3291840"/>
            <a:ext cx="24460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1999~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4389120"/>
            <a:ext cx="2354580" cy="1554480"/>
          </a:xfrm>
          <a:prstGeom prst="roundRect">
            <a:avLst>
              <a:gd name="adj" fmla="val 7647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4544568"/>
            <a:ext cx="2080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Servlet / JSP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0120" y="5029200"/>
            <a:ext cx="2080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웹의 시작. 화면과 로직이 뒤섞임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01718" y="3858768"/>
            <a:ext cx="237744" cy="237744"/>
          </a:xfrm>
          <a:prstGeom prst="ellipse">
            <a:avLst/>
          </a:prstGeom>
          <a:solidFill>
            <a:srgbClr val="2628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97580" y="3291840"/>
            <a:ext cx="24460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2000년대 초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543300" y="4389120"/>
            <a:ext cx="2354580" cy="1554480"/>
          </a:xfrm>
          <a:prstGeom prst="roundRect">
            <a:avLst>
              <a:gd name="adj" fmla="val 7647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80460" y="4544568"/>
            <a:ext cx="2080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J2EE / EJB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680460" y="5029200"/>
            <a:ext cx="2080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표준화. 그러나 무겁고 복잡한 설정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22058" y="3858768"/>
            <a:ext cx="237744" cy="237744"/>
          </a:xfrm>
          <a:prstGeom prst="ellipse">
            <a:avLst/>
          </a:prstGeom>
          <a:solidFill>
            <a:srgbClr val="26282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0" y="3291840"/>
            <a:ext cx="24460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2004~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63640" y="4389120"/>
            <a:ext cx="2354580" cy="1554480"/>
          </a:xfrm>
          <a:prstGeom prst="roundRect">
            <a:avLst>
              <a:gd name="adj" fmla="val 7647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0" y="4544568"/>
            <a:ext cx="2080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00800" y="5029200"/>
            <a:ext cx="2080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경량 컨테이너 · DI · POJO 중심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0042398" y="3858768"/>
            <a:ext cx="237744" cy="237744"/>
          </a:xfrm>
          <a:prstGeom prst="ellipse">
            <a:avLst/>
          </a:prstGeom>
          <a:solidFill>
            <a:srgbClr val="FFBC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938260" y="3291840"/>
            <a:ext cx="24460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2014~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983980" y="4389120"/>
            <a:ext cx="2354580" cy="1554480"/>
          </a:xfrm>
          <a:prstGeom prst="roundRect">
            <a:avLst>
              <a:gd name="adj" fmla="val 7647"/>
            </a:avLst>
          </a:prstGeom>
          <a:solidFill>
            <a:srgbClr val="FFF6D9"/>
          </a:solidFill>
          <a:ln/>
        </p:spPr>
      </p:sp>
      <p:sp>
        <p:nvSpPr>
          <p:cNvPr id="25" name="Text 22"/>
          <p:cNvSpPr/>
          <p:nvPr/>
        </p:nvSpPr>
        <p:spPr>
          <a:xfrm>
            <a:off x="9121140" y="4544568"/>
            <a:ext cx="2080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121140" y="5029200"/>
            <a:ext cx="2080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설정 · 내장 서버 · 즉시 실행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KB손해보험 · 알쓸IT잡  |  프레임워크 교육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b_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4632"/>
            <a:ext cx="186537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03.  THE J2EE ERA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40080" y="1691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J2EE / EJB 시대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2514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엔터프라이즈 표준을 제시했지만, 그 무게가 발목을 잡았다.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3017520"/>
            <a:ext cx="5212080" cy="2743200"/>
          </a:xfrm>
          <a:prstGeom prst="roundRect">
            <a:avLst>
              <a:gd name="adj" fmla="val 4333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AF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 </a:t>
            </a:r>
            <a:pPr indent="0" marL="0">
              <a:buNone/>
            </a:pPr>
            <a:r>
              <a:rPr lang="en-US" sz="16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의의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05840" y="3794760"/>
            <a:ext cx="118872" cy="118872"/>
          </a:xfrm>
          <a:prstGeom prst="ellipse">
            <a:avLst/>
          </a:prstGeom>
          <a:solidFill>
            <a:srgbClr val="1AAF6E"/>
          </a:solidFill>
          <a:ln/>
        </p:spPr>
      </p:sp>
      <p:sp>
        <p:nvSpPr>
          <p:cNvPr id="9" name="Text 6"/>
          <p:cNvSpPr/>
          <p:nvPr/>
        </p:nvSpPr>
        <p:spPr>
          <a:xfrm>
            <a:off x="1280160" y="370332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트랜잭션 · 보안 · 분산처리의 표준 정립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005840" y="4361688"/>
            <a:ext cx="118872" cy="118872"/>
          </a:xfrm>
          <a:prstGeom prst="ellipse">
            <a:avLst/>
          </a:prstGeom>
          <a:solidFill>
            <a:srgbClr val="1AAF6E"/>
          </a:solidFill>
          <a:ln/>
        </p:spPr>
      </p:sp>
      <p:sp>
        <p:nvSpPr>
          <p:cNvPr id="11" name="Text 8"/>
          <p:cNvSpPr/>
          <p:nvPr/>
        </p:nvSpPr>
        <p:spPr>
          <a:xfrm>
            <a:off x="1280160" y="427024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대규모 엔터프라이즈 시스템의 기준 제시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005840" y="4928616"/>
            <a:ext cx="118872" cy="118872"/>
          </a:xfrm>
          <a:prstGeom prst="ellipse">
            <a:avLst/>
          </a:prstGeom>
          <a:solidFill>
            <a:srgbClr val="1AAF6E"/>
          </a:solidFill>
          <a:ln/>
        </p:spPr>
      </p:sp>
      <p:sp>
        <p:nvSpPr>
          <p:cNvPr id="13" name="Text 10"/>
          <p:cNvSpPr/>
          <p:nvPr/>
        </p:nvSpPr>
        <p:spPr>
          <a:xfrm>
            <a:off x="1280160" y="4837176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컨테이너(WAS)가 공통 서비스를 책임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309360" y="3017520"/>
            <a:ext cx="5212080" cy="2743200"/>
          </a:xfrm>
          <a:prstGeom prst="roundRect">
            <a:avLst>
              <a:gd name="adj" fmla="val 4333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2940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38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 </a:t>
            </a:r>
            <a:pPr indent="0" marL="0">
              <a:buNone/>
            </a:pPr>
            <a:r>
              <a:rPr lang="en-US" sz="16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675120" y="3794760"/>
            <a:ext cx="118872" cy="118872"/>
          </a:xfrm>
          <a:prstGeom prst="ellipse">
            <a:avLst/>
          </a:prstGeom>
          <a:solidFill>
            <a:srgbClr val="E5383B"/>
          </a:solidFill>
          <a:ln/>
        </p:spPr>
      </p:sp>
      <p:sp>
        <p:nvSpPr>
          <p:cNvPr id="17" name="Text 14"/>
          <p:cNvSpPr/>
          <p:nvPr/>
        </p:nvSpPr>
        <p:spPr>
          <a:xfrm>
            <a:off x="6949440" y="370332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EJB의 무거운 구조와 강한 규약 의존성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675120" y="4361688"/>
            <a:ext cx="118872" cy="118872"/>
          </a:xfrm>
          <a:prstGeom prst="ellipse">
            <a:avLst/>
          </a:prstGeom>
          <a:solidFill>
            <a:srgbClr val="E5383B"/>
          </a:solidFill>
          <a:ln/>
        </p:spPr>
      </p:sp>
      <p:sp>
        <p:nvSpPr>
          <p:cNvPr id="19" name="Text 16"/>
          <p:cNvSpPr/>
          <p:nvPr/>
        </p:nvSpPr>
        <p:spPr>
          <a:xfrm>
            <a:off x="6949440" y="427024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장황한 XML 설정 — 이른바 '설정 지옥'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675120" y="4928616"/>
            <a:ext cx="118872" cy="118872"/>
          </a:xfrm>
          <a:prstGeom prst="ellipse">
            <a:avLst/>
          </a:prstGeom>
          <a:solidFill>
            <a:srgbClr val="E5383B"/>
          </a:solidFill>
          <a:ln/>
        </p:spPr>
      </p:sp>
      <p:sp>
        <p:nvSpPr>
          <p:cNvPr id="21" name="Text 18"/>
          <p:cNvSpPr/>
          <p:nvPr/>
        </p:nvSpPr>
        <p:spPr>
          <a:xfrm>
            <a:off x="6949440" y="4837176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 테스트가 어렵고 개발 생산성 저하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75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복잡함에 대한 반작용으로 '경량(lightweight)' 프레임워크의 흐름이 시작된다.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KB손해보험 · 알쓸IT잡  |  프레임워크 교육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b_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4632"/>
            <a:ext cx="186537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03.  SPRING FRAMEWORK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40080" y="1691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Spring의 등장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2514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EJB의 복잡함을 걷어내고, 평범한 자바 객체(POJO)로 돌아가자.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3017520"/>
            <a:ext cx="3322320" cy="2286000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  <a:effectLst>
            <a:outerShdw sx="100000" sy="100000" kx="0" ky="0" algn="bl" rotWithShape="0" blurRad="114300" dist="38100" dir="5400000">
              <a:srgbClr val="26282C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3017520"/>
            <a:ext cx="3322320" cy="109728"/>
          </a:xfrm>
          <a:prstGeom prst="rect">
            <a:avLst/>
          </a:prstGeom>
          <a:solidFill>
            <a:srgbClr val="FFBC00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3291840"/>
            <a:ext cx="268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IoC / DI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60120" y="3703320"/>
            <a:ext cx="268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Inversion of Control / Dependency Injection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60120" y="4224528"/>
            <a:ext cx="268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객체 생성·연결을 컨테이너가 대신. 의존성을 '주입'받아 결합도를 낮춘다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19600" y="3017520"/>
            <a:ext cx="3322320" cy="2286000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  <a:effectLst>
            <a:outerShdw sx="100000" sy="100000" kx="0" ky="0" algn="bl" rotWithShape="0" blurRad="114300" dist="38100" dir="5400000">
              <a:srgbClr val="26282C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19600" y="3017520"/>
            <a:ext cx="3322320" cy="109728"/>
          </a:xfrm>
          <a:prstGeom prst="rect">
            <a:avLst/>
          </a:prstGeom>
          <a:solidFill>
            <a:srgbClr val="FFBC00"/>
          </a:solidFill>
          <a:ln/>
        </p:spPr>
      </p:sp>
      <p:sp>
        <p:nvSpPr>
          <p:cNvPr id="13" name="Text 10"/>
          <p:cNvSpPr/>
          <p:nvPr/>
        </p:nvSpPr>
        <p:spPr>
          <a:xfrm>
            <a:off x="4739640" y="3291840"/>
            <a:ext cx="268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AOP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739640" y="3703320"/>
            <a:ext cx="268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Aspect-Oriented Programming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739640" y="4224528"/>
            <a:ext cx="268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로깅·트랜잭션 같은 공통 관심사를 핵심 로직과 분리해 깔끔하게 처리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199120" y="3017520"/>
            <a:ext cx="3322320" cy="2286000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  <a:effectLst>
            <a:outerShdw sx="100000" sy="100000" kx="0" ky="0" algn="bl" rotWithShape="0" blurRad="114300" dist="38100" dir="5400000">
              <a:srgbClr val="26282C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199120" y="3017520"/>
            <a:ext cx="3322320" cy="109728"/>
          </a:xfrm>
          <a:prstGeom prst="rect">
            <a:avLst/>
          </a:prstGeom>
          <a:solidFill>
            <a:srgbClr val="FFBC00"/>
          </a:solidFill>
          <a:ln/>
        </p:spPr>
      </p:sp>
      <p:sp>
        <p:nvSpPr>
          <p:cNvPr id="18" name="Text 15"/>
          <p:cNvSpPr/>
          <p:nvPr/>
        </p:nvSpPr>
        <p:spPr>
          <a:xfrm>
            <a:off x="8519160" y="3291840"/>
            <a:ext cx="268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POJO 중심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8519160" y="3703320"/>
            <a:ext cx="268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Plain Old Java Object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519160" y="4224528"/>
            <a:ext cx="268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 규약을 강제하지 않는 순수 자바 객체. 테스트가 쉽고 가볍다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15294"/>
            </a:avLst>
          </a:prstGeom>
          <a:solidFill>
            <a:srgbClr val="F7F7F8"/>
          </a:solidFill>
          <a:ln/>
        </p:spPr>
      </p:sp>
      <p:sp>
        <p:nvSpPr>
          <p:cNvPr id="22" name="Text 19"/>
          <p:cNvSpPr/>
          <p:nvPr/>
        </p:nvSpPr>
        <p:spPr>
          <a:xfrm>
            <a:off x="1005840" y="544068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용어  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IoC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(제어의 역전) 흐름 통제를 프레임워크에 맡김  ·  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(의존성 주입) 필요한 객체를 외부에서 넣어줌  ·  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AOP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(관점 지향 프로그래밍) 공통 기능을 따로 떼어 적용  ·  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POJO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(순수 자바 객체) 특별한 규약 없는 평범한 객체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KB손해보험 · 알쓸IT잡  |  프레임워크 교육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b_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4632"/>
            <a:ext cx="186537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03.  공통 관심사 (AOP) ①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로깅·선처리·후처리, 이렇게 흩어집니다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24871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AOP가 없다면 — 모든 메서드가 똑같은 선·후처리 코드를 반복한다.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880360"/>
            <a:ext cx="6766560" cy="3063240"/>
          </a:xfrm>
          <a:prstGeom prst="roundRect">
            <a:avLst>
              <a:gd name="adj" fmla="val 2985"/>
            </a:avLst>
          </a:prstGeom>
          <a:solidFill>
            <a:srgbClr val="F7F7F8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2880360"/>
            <a:ext cx="91440" cy="3063240"/>
          </a:xfrm>
          <a:prstGeom prst="rect">
            <a:avLst/>
          </a:prstGeom>
          <a:solidFill>
            <a:srgbClr val="FFBC00"/>
          </a:solidFill>
          <a:ln/>
        </p:spPr>
      </p:sp>
      <p:sp>
        <p:nvSpPr>
          <p:cNvPr id="8" name="Text 5"/>
          <p:cNvSpPr/>
          <p:nvPr/>
        </p:nvSpPr>
        <p:spPr>
          <a:xfrm>
            <a:off x="932688" y="3026664"/>
            <a:ext cx="6263640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</a:t>
            </a:r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order(Order o) {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log.info(</a:t>
            </a:r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"주문 시작 "</a:t>
            </a:r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o.getId());</a:t>
            </a:r>
            <a:pPr algn="l"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8B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선처리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long t = now();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validate(o);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save(o);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log.info(</a:t>
            </a:r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"완료 "</a:t>
            </a:r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(now()-t));</a:t>
            </a:r>
            <a:pPr algn="l"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8B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후처리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</a:t>
            </a:r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cancel(Order o) {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log.info(</a:t>
            </a:r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"취소 시작"</a:t>
            </a:r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algn="l"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8B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// 또 반복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refund(o);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log.info(</a:t>
            </a:r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"취소 완료"</a:t>
            </a:r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algn="l"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8B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// 또 반복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0" y="306324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FFF6D9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0" y="30632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선처리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098280" y="30632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 로그 · 시각 기록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183880" y="34290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72400" y="3904488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26282C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0" y="39044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로직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098280" y="39044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validate(o) · save(o)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183880" y="427024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772400" y="4745736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FFF6D9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0" y="47457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후처리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098280" y="474573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로그 · 소요시간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60533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 </a:t>
            </a:r>
            <a:pPr indent="0" marL="0">
              <a:buNone/>
            </a:pPr>
            <a:r>
              <a:rPr lang="en-US" sz="115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order(), cancel(), pay() … 모든 메서드가 같은 선·후처리를 반복 → 핵심 로직이 묻히고, 정책을 바꾸려면 전부 손봐야 한다.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KB손해보험 · 알쓸IT잡  |  프레임워크 교육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b_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4632"/>
            <a:ext cx="186537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03.  공통 관심사 (AOP) ②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AOP — 한 번 작성해 모두에 적용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24871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관심사는 Aspect 한 곳에 모으고, 핵심 로직은 건드리지 않는다.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880360"/>
            <a:ext cx="6766560" cy="3063240"/>
          </a:xfrm>
          <a:prstGeom prst="roundRect">
            <a:avLst>
              <a:gd name="adj" fmla="val 2985"/>
            </a:avLst>
          </a:prstGeom>
          <a:solidFill>
            <a:srgbClr val="F7F7F8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2880360"/>
            <a:ext cx="91440" cy="3063240"/>
          </a:xfrm>
          <a:prstGeom prst="rect">
            <a:avLst/>
          </a:prstGeom>
          <a:solidFill>
            <a:srgbClr val="FFBC00"/>
          </a:solidFill>
          <a:ln/>
        </p:spPr>
      </p:sp>
      <p:sp>
        <p:nvSpPr>
          <p:cNvPr id="8" name="Text 5"/>
          <p:cNvSpPr/>
          <p:nvPr/>
        </p:nvSpPr>
        <p:spPr>
          <a:xfrm>
            <a:off x="932688" y="3026664"/>
            <a:ext cx="6263640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E5A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@Aspect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E5A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LoggingAspect {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E5A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@Around(</a:t>
            </a:r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"execution(* ..service..*(..))"</a:t>
            </a:r>
            <a:pPr algn="l"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E5A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Object log(ProceedingJoinPoint pjp)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throws Throwable {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log.info(</a:t>
            </a:r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"시작 "</a:t>
            </a:r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sig);</a:t>
            </a:r>
            <a:pPr algn="l"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8B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// 선처리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long t = now();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Object result = pjp.proceed();</a:t>
            </a:r>
            <a:pPr algn="l"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8B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핵심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log.info(</a:t>
            </a:r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"완료 "</a:t>
            </a:r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(now()-t));</a:t>
            </a:r>
            <a:pPr algn="l"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8B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후처리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result;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0" y="2880360"/>
            <a:ext cx="3749040" cy="1371600"/>
          </a:xfrm>
          <a:prstGeom prst="roundRect">
            <a:avLst>
              <a:gd name="adj" fmla="val 8667"/>
            </a:avLst>
          </a:prstGeom>
          <a:solidFill>
            <a:srgbClr val="F7F7F8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0" y="2990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이제 핵심 로직은 이게 전부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46720" y="32918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order(Order o)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validate(o);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save(o);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628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772400" y="4526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A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@Before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01200" y="4526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선처리만 (실행 전)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772400" y="5029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A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@AfterReturning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601200" y="5029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후처리만 (정상 종료 후)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772400" y="5532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A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@Around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601200" y="5532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선·후 모두 (위 예시)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40080" y="60533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 </a:t>
            </a:r>
            <a:pPr indent="0" marL="0">
              <a:buNone/>
            </a:pPr>
            <a:r>
              <a:rPr lang="en-US" sz="1150" i="1" dirty="0">
                <a:solidFill>
                  <a:srgbClr val="2C75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대상이 100개로 늘어도 Aspect는 그대로 — 로그 정책을 한 곳에서 바꾸고, 핵심 로직은 깨끗하게 유지된다.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KB손해보험 · 알쓸IT잡  |  프레임워크 교육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b_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4632"/>
            <a:ext cx="186537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03.  SPRING BOOT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40080" y="1691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시대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2514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'설정보다 관습(Convention over Configuration)' — 복잡한 설정을 자동화한다.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3127248"/>
            <a:ext cx="164592" cy="164592"/>
          </a:xfrm>
          <a:prstGeom prst="ellipse">
            <a:avLst/>
          </a:prstGeom>
          <a:solidFill>
            <a:srgbClr val="FFBC00"/>
          </a:solidFill>
          <a:ln/>
        </p:spPr>
      </p:sp>
      <p:sp>
        <p:nvSpPr>
          <p:cNvPr id="7" name="Text 4"/>
          <p:cNvSpPr/>
          <p:nvPr/>
        </p:nvSpPr>
        <p:spPr>
          <a:xfrm>
            <a:off x="932688" y="3035808"/>
            <a:ext cx="5468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설정 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Auto Configuration이 환경을 추론해 기본값을 알아서 구성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840480"/>
            <a:ext cx="164592" cy="164592"/>
          </a:xfrm>
          <a:prstGeom prst="ellipse">
            <a:avLst/>
          </a:prstGeom>
          <a:solidFill>
            <a:srgbClr val="FFBC00"/>
          </a:solidFill>
          <a:ln/>
        </p:spPr>
      </p:sp>
      <p:sp>
        <p:nvSpPr>
          <p:cNvPr id="9" name="Text 6"/>
          <p:cNvSpPr/>
          <p:nvPr/>
        </p:nvSpPr>
        <p:spPr>
          <a:xfrm>
            <a:off x="932688" y="3749040"/>
            <a:ext cx="5468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내장 서버 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Tomcat 내장 — 별도 WAS 설치 없이 즉시 실행(jar)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4553712"/>
            <a:ext cx="164592" cy="164592"/>
          </a:xfrm>
          <a:prstGeom prst="ellipse">
            <a:avLst/>
          </a:prstGeom>
          <a:solidFill>
            <a:srgbClr val="FFBC00"/>
          </a:solidFill>
          <a:ln/>
        </p:spPr>
      </p:sp>
      <p:sp>
        <p:nvSpPr>
          <p:cNvPr id="11" name="Text 8"/>
          <p:cNvSpPr/>
          <p:nvPr/>
        </p:nvSpPr>
        <p:spPr>
          <a:xfrm>
            <a:off x="932688" y="4462272"/>
            <a:ext cx="5468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Starter 의존성 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spring-boot-starter-* 로 필요한 라이브러리를 묶음 관리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0080" y="5266944"/>
            <a:ext cx="164592" cy="164592"/>
          </a:xfrm>
          <a:prstGeom prst="ellipse">
            <a:avLst/>
          </a:prstGeom>
          <a:solidFill>
            <a:srgbClr val="FFBC00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5175504"/>
            <a:ext cx="5468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편의 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Actuator로 모니터링·헬스체크를 기본 제공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858000" y="3063240"/>
            <a:ext cx="4663440" cy="2743200"/>
          </a:xfrm>
          <a:prstGeom prst="roundRect">
            <a:avLst>
              <a:gd name="adj" fmla="val 4333"/>
            </a:avLst>
          </a:prstGeom>
          <a:solidFill>
            <a:srgbClr val="F7F7F8"/>
          </a:solidFill>
          <a:ln/>
        </p:spPr>
      </p:sp>
      <p:sp>
        <p:nvSpPr>
          <p:cNvPr id="15" name="Text 12"/>
          <p:cNvSpPr/>
          <p:nvPr/>
        </p:nvSpPr>
        <p:spPr>
          <a:xfrm>
            <a:off x="7178040" y="3291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일을, 더 적은 설정으로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178040" y="37490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538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 (Spring)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수십 줄의 XML · 컨테이너 설정 · WAS 배포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617720"/>
            <a:ext cx="4023360" cy="0"/>
          </a:xfrm>
          <a:prstGeom prst="line">
            <a:avLst/>
          </a:prstGeom>
          <a:noFill/>
          <a:ln w="12700">
            <a:solidFill>
              <a:srgbClr val="EBEB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78040" y="47548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AF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 (Spring Boot)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@SpringBootApplication 한 줄 + main() 실행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KB손해보험 · 알쓸IT잡  |  프레임워크 교육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b_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4632"/>
            <a:ext cx="186537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03.  쉽게 비유하면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'한 끼 만들기'로 이해하는 프레임워크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24871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음식을 만드는 세 가지 방법 — 누가 '조리 순서'를 쥐는지가 핵심입니다.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880360"/>
            <a:ext cx="3322320" cy="2057400"/>
          </a:xfrm>
          <a:prstGeom prst="roundRect">
            <a:avLst>
              <a:gd name="adj" fmla="val 5778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3108960"/>
            <a:ext cx="2737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요리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32688" y="3493008"/>
            <a:ext cx="2737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생(生) 코드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32688" y="3858768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 손질부터 불 조절까지 전부 직접. 자유롭지만 느리고 실수가 잦다.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32688" y="4572000"/>
            <a:ext cx="2737104" cy="0"/>
          </a:xfrm>
          <a:prstGeom prst="line">
            <a:avLst/>
          </a:prstGeom>
          <a:noFill/>
          <a:ln w="12700">
            <a:solidFill>
              <a:srgbClr val="EBEB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4617720"/>
            <a:ext cx="2737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F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코드를 손으로 작성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19600" y="2880360"/>
            <a:ext cx="3322320" cy="2057400"/>
          </a:xfrm>
          <a:prstGeom prst="roundRect">
            <a:avLst>
              <a:gd name="adj" fmla="val 5778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12208" y="3108960"/>
            <a:ext cx="2737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밀키트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712208" y="3493008"/>
            <a:ext cx="2737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라이브러리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712208" y="3858768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손질된 재료를 내가 원하는 순서로 조합. 편하지만 조리는 내가 진행한다.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12208" y="4572000"/>
            <a:ext cx="2737104" cy="0"/>
          </a:xfrm>
          <a:prstGeom prst="line">
            <a:avLst/>
          </a:prstGeom>
          <a:noFill/>
          <a:ln w="12700">
            <a:solidFill>
              <a:srgbClr val="EBEB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12208" y="4617720"/>
            <a:ext cx="2737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F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필요한 기능을 골라 '내가' 호출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199120" y="2880360"/>
            <a:ext cx="3322320" cy="2057400"/>
          </a:xfrm>
          <a:prstGeom prst="roundRect">
            <a:avLst>
              <a:gd name="adj" fmla="val 5778"/>
            </a:avLst>
          </a:prstGeom>
          <a:solidFill>
            <a:srgbClr val="FFF6D9"/>
          </a:solidFill>
          <a:ln/>
          <a:effectLst>
            <a:outerShdw sx="100000" sy="100000" kx="0" ky="0" algn="bl" rotWithShape="0" blurRad="114300" dist="38100" dir="5400000">
              <a:srgbClr val="26282C">
                <a:alpha val="7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491728" y="3108960"/>
            <a:ext cx="2737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자동조리 밥솥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491728" y="3493008"/>
            <a:ext cx="2737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프레임워크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491728" y="3858768"/>
            <a:ext cx="2737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재료만 넣으면 정해진 순서로 기계가 알아서. 나는 '재료 넣기'만 맡는다.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491728" y="4572000"/>
            <a:ext cx="2737104" cy="0"/>
          </a:xfrm>
          <a:prstGeom prst="line">
            <a:avLst/>
          </a:prstGeom>
          <a:noFill/>
          <a:ln w="12700">
            <a:solidFill>
              <a:srgbClr val="E5A8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91728" y="4617720"/>
            <a:ext cx="2737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F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흐름은 프레임워크가, 나는 정해진 자리만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40080" y="5212080"/>
            <a:ext cx="10881360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60120" y="5532120"/>
            <a:ext cx="201168" cy="201168"/>
          </a:xfrm>
          <a:prstGeom prst="ellipse">
            <a:avLst/>
          </a:prstGeom>
          <a:solidFill>
            <a:srgbClr val="FFBC00"/>
          </a:solidFill>
          <a:ln/>
        </p:spPr>
      </p:sp>
      <p:sp>
        <p:nvSpPr>
          <p:cNvPr id="26" name="Text 23"/>
          <p:cNvSpPr/>
          <p:nvPr/>
        </p:nvSpPr>
        <p:spPr>
          <a:xfrm>
            <a:off x="1325880" y="528523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POJO = '평범한 재료' 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특별한 규칙이 없는 순수 자바 객체. 어떤 조리법(프레임워크)에도 그대로 넣고 갈아끼울 수 있다. Spring이 EJB의 '특수 재료 강제'를 걷어내고 평범한 재료로 돌아간 것이 진화의 핵심.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KB손해보험 · 알쓸IT잡  |  프레임워크 교육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b_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4632"/>
            <a:ext cx="186537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03.  복잡도, 얼마나 줄어드나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일, 코드는 얼마나 줄어들까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24871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58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'DB에서 고객 한 명을 찾아오기' — 같은 결과, 다른 노력.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31363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(순수 JDBC)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40080" y="34564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연결·쿼리·변환·예외·자원반납까지 직접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931920" y="3191256"/>
            <a:ext cx="5669280" cy="457200"/>
          </a:xfrm>
          <a:prstGeom prst="roundRect">
            <a:avLst>
              <a:gd name="adj" fmla="val 12000"/>
            </a:avLst>
          </a:prstGeom>
          <a:solidFill>
            <a:srgbClr val="26282C"/>
          </a:solidFill>
          <a:ln/>
        </p:spPr>
      </p:sp>
      <p:sp>
        <p:nvSpPr>
          <p:cNvPr id="9" name="Text 6"/>
          <p:cNvSpPr/>
          <p:nvPr/>
        </p:nvSpPr>
        <p:spPr>
          <a:xfrm>
            <a:off x="9829800" y="31729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25줄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39776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 (+ POJO)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40080" y="42976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작업은 Spring이, 나는 쿼리·매핑만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931920" y="4032504"/>
            <a:ext cx="1814170" cy="457200"/>
          </a:xfrm>
          <a:prstGeom prst="roundRect">
            <a:avLst>
              <a:gd name="adj" fmla="val 12000"/>
            </a:avLst>
          </a:prstGeom>
          <a:solidFill>
            <a:srgbClr val="26282C"/>
          </a:solidFill>
          <a:ln/>
        </p:spPr>
      </p:sp>
      <p:sp>
        <p:nvSpPr>
          <p:cNvPr id="13" name="Text 10"/>
          <p:cNvSpPr/>
          <p:nvPr/>
        </p:nvSpPr>
        <p:spPr>
          <a:xfrm>
            <a:off x="9829800" y="401421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8줄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40080" y="48188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 (JPA)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40080" y="51389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repository.findById(1) — 한 줄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931920" y="4873752"/>
            <a:ext cx="411480" cy="457200"/>
          </a:xfrm>
          <a:prstGeom prst="roundRect">
            <a:avLst>
              <a:gd name="adj" fmla="val 13333"/>
            </a:avLst>
          </a:prstGeom>
          <a:solidFill>
            <a:srgbClr val="FFBC00"/>
          </a:solidFill>
          <a:ln/>
        </p:spPr>
      </p:sp>
      <p:sp>
        <p:nvSpPr>
          <p:cNvPr id="17" name="Text 14"/>
          <p:cNvSpPr/>
          <p:nvPr/>
        </p:nvSpPr>
        <p:spPr>
          <a:xfrm>
            <a:off x="9829800" y="485546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1줄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40080" y="5715000"/>
            <a:ext cx="10881360" cy="0"/>
          </a:xfrm>
          <a:prstGeom prst="line">
            <a:avLst/>
          </a:prstGeom>
          <a:noFill/>
          <a:ln w="12700">
            <a:solidFill>
              <a:srgbClr val="EBEB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58521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96%</a:t>
            </a:r>
            <a:pPr indent="0" marL="0">
              <a:buNone/>
            </a:pPr>
            <a:r>
              <a:rPr lang="en-US" sz="1400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↓   순수 JDBC 25줄 → Spring Boot 1줄, 작성할 코드가 그만큼 줄었습니다.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줄 수는 개념 이해를 돕기 위한 개략적 예시입니다.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b_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4632"/>
            <a:ext cx="186537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03.  RECAP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40080" y="1691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2628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세대별 한눈에 비교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2608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926080"/>
                <a:gridCol w="292608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B8F9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B8F9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J2EE / EJB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B8F9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Spring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B8F9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Spring Boot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8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설정 방식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4586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XML 중심, 장황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4586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XML → 어노테이션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8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자동 설정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8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무게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4586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무거움 (Heavy)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4586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경량 컨테이너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8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경량 + 즉시 실행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8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실행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4586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WAS에 배포 필요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4586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WAS 필요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8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내장 서버 (jar)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8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가치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4586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표준화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4586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 · POJO · AOP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8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관습 · 생산성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8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학습 곡선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4586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가파름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4586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282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완만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75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일관된 방향 — 표준화 → 경량화 → 자동화. 개발자는 점점 더 '비즈니스 로직'에만 집중하게 된다.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KB손해보험 · 알쓸IT잡  |  프레임워크 교육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88136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6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b_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4632"/>
            <a:ext cx="186537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554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5A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SUMMARY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640080" y="1874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핵심 3가지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40080" y="3017520"/>
            <a:ext cx="3322320" cy="2468880"/>
          </a:xfrm>
          <a:prstGeom prst="roundRect">
            <a:avLst>
              <a:gd name="adj" fmla="val 4815"/>
            </a:avLst>
          </a:prstGeom>
          <a:solidFill>
            <a:srgbClr val="33363C"/>
          </a:solidFill>
          <a:ln w="12700">
            <a:solidFill>
              <a:srgbClr val="4144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3246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C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960120" y="3931920"/>
            <a:ext cx="268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프레임워크는 '뼈대'다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4526280"/>
            <a:ext cx="268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구조와 제어 흐름을 미리 제공하고, 우리는 핵심 로직만 채운다.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19600" y="3017520"/>
            <a:ext cx="3322320" cy="2468880"/>
          </a:xfrm>
          <a:prstGeom prst="roundRect">
            <a:avLst>
              <a:gd name="adj" fmla="val 4815"/>
            </a:avLst>
          </a:prstGeom>
          <a:solidFill>
            <a:srgbClr val="33363C"/>
          </a:solidFill>
          <a:ln w="12700">
            <a:solidFill>
              <a:srgbClr val="4144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39640" y="3246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C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4739640" y="3931920"/>
            <a:ext cx="268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차이는 '제어의 주체'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739640" y="4526280"/>
            <a:ext cx="268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라이브러리는 내가 부르고, 프레임워크는 나를 부른다 (IoC).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199120" y="3017520"/>
            <a:ext cx="3322320" cy="2468880"/>
          </a:xfrm>
          <a:prstGeom prst="roundRect">
            <a:avLst>
              <a:gd name="adj" fmla="val 4815"/>
            </a:avLst>
          </a:prstGeom>
          <a:solidFill>
            <a:srgbClr val="33363C"/>
          </a:solidFill>
          <a:ln w="12700">
            <a:solidFill>
              <a:srgbClr val="4144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19160" y="3246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C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8519160" y="3931920"/>
            <a:ext cx="268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진화의 방향은 '가볍게'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519160" y="4526280"/>
            <a:ext cx="268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B8F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J2EE → Spring → Spring Boot, 표준화에서 자동화로.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C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— Spring Boot로 첫 애플리케이션 만들어보기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3회차 프레임워크의 이해</dc:title>
  <dc:subject>PptxGenJS Presentation</dc:subject>
  <dc:creator>IT개발파트</dc:creator>
  <cp:lastModifiedBy>IT개발파트</cp:lastModifiedBy>
  <cp:revision>1</cp:revision>
  <dcterms:created xsi:type="dcterms:W3CDTF">2026-06-01T04:44:43Z</dcterms:created>
  <dcterms:modified xsi:type="dcterms:W3CDTF">2026-06-01T04:44:43Z</dcterms:modified>
</cp:coreProperties>
</file>